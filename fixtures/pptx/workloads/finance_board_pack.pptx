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comments/comment1.xml" ContentType="application/vnd.openxmlformats-officedocument.presentationml.comments+xml"/>
  <Override PartName="/ppt/commentAuthors.xml" ContentType="application/vnd.openxmlformats-officedocument.presentationml.commentAuthors+xml"/>
  <Override PartName="/ppt/embeddings/oleObject1.bin" ContentType="application/vnd.openxmlformats-officedocument.oleObjec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p="http://schemas.openxmlformats.org/presentationml/2006/main">
  <p:cmAuthor id="0" name="WolfPPT" initials="WP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commentAuthors" Target="commentAuthor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a="http://schemas.openxmlformats.org/drawingml/2006/main" xmlns:c="http://schemas.openxmlformats.org/drawingml/2006/chart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38.1</c:v>
                </c:pt>
                <c:pt idx="1">
                  <c:v>39.4</c:v>
                </c:pt>
                <c:pt idx="2">
                  <c:v>40.8</c:v>
                </c:pt>
                <c:pt idx="3">
                  <c:v>42.6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Plan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37.5</c:v>
                </c:pt>
                <c:pt idx="1">
                  <c:v>39.0</c:v>
                </c:pt>
                <c:pt idx="2">
                  <c:v>41.0</c:v>
                </c:pt>
                <c:pt idx="3">
                  <c:v>43.0</c:v>
                </c:pt>
              </c:numCache>
            </c:numRef>
          </c:val>
        </c:ser>
        <c:axId val="1000000"/>
        <c:axId val="1000001"/>
      </c:barChart>
      <c:catAx>
        <c:axId val="1000000"/>
        <c:scaling>
          <c:orientation val="minMax"/>
        </c:scaling>
        <c:delete val="0"/>
        <c:axPos val="b"/>
        <c:majorTickMark val="out"/>
        <c:minorTickMark val="none"/>
        <c:tickLblPos val="nextTo"/>
        <c:crossAx val="1000001"/>
        <c:crosses val="autoZero"/>
        <c:auto val="1"/>
        <c:lblAlgn val="ctr"/>
        <c:lblOffset val="100"/>
        <c:noMultiLvlLbl val="0"/>
      </c:catAx>
      <c:valAx>
        <c:axId val="1000001"/>
        <c:scaling/>
        <c:delete val="0"/>
        <c:axPos val="l"/>
        <c:majorGridlines/>
        <c:majorTickMark val="out"/>
        <c:minorTickMark val="none"/>
        <c:tickLblPos val="nextTo"/>
        <c:crossAx val="1000000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a="http://schemas.openxmlformats.org/drawingml/2006/main" xmlns:c="http://schemas.openxmlformats.org/drawingml/2006/chart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14.8</c:v>
                </c:pt>
                <c:pt idx="1">
                  <c:v>13.9</c:v>
                </c:pt>
                <c:pt idx="2">
                  <c:v>13.4</c:v>
                </c:pt>
                <c:pt idx="3">
                  <c:v>14.2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Plan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15.0</c:v>
                </c:pt>
                <c:pt idx="1">
                  <c:v>14.5</c:v>
                </c:pt>
                <c:pt idx="2">
                  <c:v>14.0</c:v>
                </c:pt>
                <c:pt idx="3">
                  <c:v>14.0</c:v>
                </c:pt>
              </c:numCache>
            </c:numRef>
          </c:val>
        </c:ser>
        <c:axId val="1000000"/>
        <c:axId val="1000001"/>
      </c:barChart>
      <c:catAx>
        <c:axId val="1000000"/>
        <c:scaling>
          <c:orientation val="minMax"/>
        </c:scaling>
        <c:delete val="0"/>
        <c:axPos val="b"/>
        <c:majorTickMark val="out"/>
        <c:minorTickMark val="none"/>
        <c:tickLblPos val="nextTo"/>
        <c:crossAx val="1000001"/>
        <c:crosses val="autoZero"/>
        <c:auto val="1"/>
        <c:lblAlgn val="ctr"/>
        <c:lblOffset val="100"/>
        <c:noMultiLvlLbl val="0"/>
      </c:catAx>
      <c:valAx>
        <c:axId val="1000001"/>
        <c:scaling/>
        <c:delete val="0"/>
        <c:axPos val="l"/>
        <c:majorGridlines/>
        <c:majorTickMark val="out"/>
        <c:minorTickMark val="none"/>
        <c:tickLblPos val="nextTo"/>
        <c:crossAx val="1000000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a="http://schemas.openxmlformats.org/drawingml/2006/main" xmlns:c="http://schemas.openxmlformats.org/drawingml/2006/chart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3.4</c:v>
                </c:pt>
                <c:pt idx="1">
                  <c:v>3.2</c:v>
                </c:pt>
                <c:pt idx="2">
                  <c:v>3.0</c:v>
                </c:pt>
                <c:pt idx="3">
                  <c:v>2.8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Plan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3.5</c:v>
                </c:pt>
                <c:pt idx="1">
                  <c:v>3.3</c:v>
                </c:pt>
                <c:pt idx="2">
                  <c:v>3.1</c:v>
                </c:pt>
                <c:pt idx="3">
                  <c:v>3.0</c:v>
                </c:pt>
              </c:numCache>
            </c:numRef>
          </c:val>
        </c:ser>
        <c:axId val="1000000"/>
        <c:axId val="1000001"/>
      </c:barChart>
      <c:catAx>
        <c:axId val="1000000"/>
        <c:scaling>
          <c:orientation val="minMax"/>
        </c:scaling>
        <c:delete val="0"/>
        <c:axPos val="b"/>
        <c:majorTickMark val="out"/>
        <c:minorTickMark val="none"/>
        <c:tickLblPos val="nextTo"/>
        <c:crossAx val="1000001"/>
        <c:crosses val="autoZero"/>
        <c:auto val="1"/>
        <c:lblAlgn val="ctr"/>
        <c:lblOffset val="100"/>
        <c:noMultiLvlLbl val="0"/>
      </c:catAx>
      <c:valAx>
        <c:axId val="1000001"/>
        <c:scaling/>
        <c:delete val="0"/>
        <c:axPos val="l"/>
        <c:majorGridlines/>
        <c:majorTickMark val="out"/>
        <c:minorTickMark val="none"/>
        <c:tickLblPos val="nextTo"/>
        <c:crossAx val="1000000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a="http://schemas.openxmlformats.org/drawingml/2006/main" xmlns:c="http://schemas.openxmlformats.org/drawingml/2006/chart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92.0</c:v>
                </c:pt>
                <c:pt idx="1">
                  <c:v>93.5</c:v>
                </c:pt>
                <c:pt idx="2">
                  <c:v>94.2</c:v>
                </c:pt>
                <c:pt idx="3">
                  <c:v>95.1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Plan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91.0</c:v>
                </c:pt>
                <c:pt idx="1">
                  <c:v>92.0</c:v>
                </c:pt>
                <c:pt idx="2">
                  <c:v>93.0</c:v>
                </c:pt>
                <c:pt idx="3">
                  <c:v>94.0</c:v>
                </c:pt>
              </c:numCache>
            </c:numRef>
          </c:val>
        </c:ser>
        <c:axId val="1000000"/>
        <c:axId val="1000001"/>
      </c:barChart>
      <c:catAx>
        <c:axId val="1000000"/>
        <c:scaling>
          <c:orientation val="minMax"/>
        </c:scaling>
        <c:delete val="0"/>
        <c:axPos val="b"/>
        <c:majorTickMark val="out"/>
        <c:minorTickMark val="none"/>
        <c:tickLblPos val="nextTo"/>
        <c:crossAx val="1000001"/>
        <c:crosses val="autoZero"/>
        <c:auto val="1"/>
        <c:lblAlgn val="ctr"/>
        <c:lblOffset val="100"/>
        <c:noMultiLvlLbl val="0"/>
      </c:catAx>
      <c:valAx>
        <c:axId val="1000001"/>
        <c:scaling/>
        <c:delete val="0"/>
        <c:axPos val="l"/>
        <c:majorGridlines/>
        <c:majorTickMark val="out"/>
        <c:minorTickMark val="none"/>
        <c:tickLblPos val="nextTo"/>
        <c:crossAx val="1000000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omments/comment1.xml><?xml version="1.0" encoding="utf-8"?>
<p:cmLst xmlns:p="http://schemas.openxmlformats.org/presentationml/2006/main">
  <p:cm authorId="0" dt="2026-05-13T00:00:00Z" idx="1">
    <p:pos x="0" y="0"/>
    <p:text>Review this slide.</p:tex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Synthetic finance board pack for real-corpus preservation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Grouped KPI tiles and embedded dashboard chart must survive round-trip.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status table carries operational risk commentary.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Cash Bridge owner is Treasury; preserve chart workbook and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Covenant Headroom owner is CFO; preserve chart workbook and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Revenue Retention owner is RevOps; preserve chart workbook and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Decision slide should retain action text and rounded shapes.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Relationship Id="rId4" Type="http://schemas.openxmlformats.org/officeDocument/2006/relationships/comments" Target="../comments/comment1.xml"/><Relationship Id="rId5" Type="http://schemas.openxmlformats.org/officeDocument/2006/relationships/oleObject" Target="../embeddings/oleObject1.bin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Finance Board Pack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Close status, liquidity, covenants, and operating actions for board review.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32004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Board KPI Dashboard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228600" y="228600"/>
            <a:ext cx="5486400" cy="3977640"/>
            <a:chOff x="228600" y="228600"/>
            <a:chExt cx="5486400" cy="3977640"/>
          </a:xfrm>
        </p:grpSpPr>
        <p:sp>
          <p:nvSpPr>
            <p:cNvPr id="4" name="Rounded Rectangle 3"/>
            <p:cNvSpPr/>
            <p:nvPr/>
          </p:nvSpPr>
          <p:spPr>
            <a:xfrm>
              <a:off x="228600" y="228600"/>
              <a:ext cx="1828800" cy="658368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ARR</a:t>
              </a:r>
            </a:p>
            <a:p>
              <a:r>
                <a:t>$42.6m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2423160" y="228600"/>
              <a:ext cx="1828800" cy="658368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EBITDA</a:t>
              </a:r>
            </a:p>
            <a:p>
              <a:r>
                <a:t>$8.4m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28600" y="1143000"/>
              <a:ext cx="1828800" cy="658368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Cash</a:t>
              </a:r>
            </a:p>
            <a:p>
              <a:r>
                <a:t>$14.2m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423160" y="1143000"/>
              <a:ext cx="1828800" cy="658368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NWC</a:t>
              </a:r>
            </a:p>
            <a:p>
              <a:r>
                <a:t>$6.1m</a:t>
              </a:r>
            </a:p>
          </p:txBody>
        </p:sp>
        <p:graphicFrame>
          <p:nvGraphicFramePr>
            <p:cNvPr id="8" name="Chart 7"/>
            <p:cNvGraphicFramePr>
              <a:graphicFrameLocks noGrp="1"/>
            </p:cNvGraphicFramePr>
            <p:nvPr/>
          </p:nvGraphicFramePr>
          <p:xfrm>
            <a:off x="320040" y="2148840"/>
            <a:ext cx="5394960" cy="2057400"/>
          </p:xfrm>
          <a:graphic>
            <a:graphicData uri="http://schemas.openxmlformats.org/drawingml/2006/chart">
              <c:chart xmlns:c="http://schemas.openxmlformats.org/drawingml/2006/chart" r:id="rId2"/>
            </a:graphicData>
          </a:graphic>
        </p:graphicFrame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Close and Reporting Status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914400"/>
          <a:ext cx="832104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1664208"/>
                <a:gridCol w="1664208"/>
                <a:gridCol w="1664208"/>
                <a:gridCol w="1664208"/>
              </a:tblGrid>
              <a:tr h="437605">
                <a:tc>
                  <a:txBody>
                    <a:bodyPr/>
                    <a:lstStyle/>
                    <a:p>
                      <a:r>
                        <a:t>Workstream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Risk</a:t>
                      </a:r>
                    </a:p>
                  </a:txBody>
                  <a:tcPr/>
                </a:tc>
              </a:tr>
              <a:tr h="437605">
                <a:tc>
                  <a:txBody>
                    <a:bodyPr/>
                    <a:lstStyle/>
                    <a:p>
                      <a:r>
                        <a:t>Revenue recognition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Controller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Yellow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Cutoff samples</a:t>
                      </a:r>
                    </a:p>
                  </a:txBody>
                  <a:tcPr/>
                </a:tc>
              </a:tr>
              <a:tr h="437605">
                <a:tc>
                  <a:txBody>
                    <a:bodyPr/>
                    <a:lstStyle/>
                    <a:p>
                      <a:r>
                        <a:t>Deferred 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</a:t>
                      </a:r>
                    </a:p>
                  </a:txBody>
                  <a:tcPr/>
                </a:tc>
              </a:tr>
              <a:tr h="437605">
                <a:tc>
                  <a:txBody>
                    <a:bodyPr/>
                    <a:lstStyle/>
                    <a:p>
                      <a:r>
                        <a:t>Payroll accrual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People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</a:t>
                      </a:r>
                    </a:p>
                  </a:txBody>
                  <a:tcPr/>
                </a:tc>
              </a:tr>
              <a:tr h="437605">
                <a:tc>
                  <a:txBody>
                    <a:bodyPr/>
                    <a:lstStyle/>
                    <a:p>
                      <a:r>
                        <a:t>Bank recs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Treasury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Timing</a:t>
                      </a:r>
                    </a:p>
                  </a:txBody>
                  <a:tcPr/>
                </a:tc>
              </a:tr>
              <a:tr h="437605">
                <a:tc>
                  <a:txBody>
                    <a:bodyPr/>
                    <a:lstStyle/>
                    <a:p>
                      <a:r>
                        <a:t>Tax provision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Yellow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External review</a:t>
                      </a:r>
                    </a:p>
                  </a:txBody>
                  <a:tcPr/>
                </a:tc>
              </a:tr>
              <a:tr h="437610">
                <a:tc>
                  <a:txBody>
                    <a:bodyPr/>
                    <a:lstStyle/>
                    <a:p>
                      <a:r>
                        <a:t>Board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FP&amp;A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Formatting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Cash Bridge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914400"/>
          <a:ext cx="768096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Covenant Headroom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914400"/>
          <a:ext cx="768096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Revenue Retention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914400"/>
          <a:ext cx="768096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Board Actions and Decisions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960120"/>
            <a:ext cx="539496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Approve bank covenant amendment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20240"/>
            <a:ext cx="539496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Fund Q3 hiring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880360"/>
            <a:ext cx="539496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Escalate collection plan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Appendix: Finance Evidence Index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914400"/>
          <a:ext cx="7498079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9359"/>
                <a:gridCol w="2499359"/>
                <a:gridCol w="2499361"/>
              </a:tblGrid>
              <a:tr h="475488">
                <a:tc>
                  <a:txBody>
                    <a:bodyPr/>
                    <a:lstStyle/>
                    <a:p>
                      <a:r>
                        <a:t>Artifact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t>Cash 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treasury_bridge.xlsx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Treasury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t>Covenant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debt_covenants.xlsx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CFO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t>Revenue cohort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retention_export.xlsx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RevOps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t>Close tracker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close_status.xlsx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Controller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