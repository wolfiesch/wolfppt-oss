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WolfPPT" initials="W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15.2</c:v>
                </c:pt>
                <c:pt idx="1">
                  <c:v>16.1</c:v>
                </c:pt>
                <c:pt idx="2">
                  <c:v>17.3</c:v>
                </c:pt>
                <c:pt idx="3">
                  <c:v>18.4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6.8</c:v>
                </c:pt>
                <c:pt idx="1">
                  <c:v>7.0</c:v>
                </c:pt>
                <c:pt idx="2">
                  <c:v>7.1</c:v>
                </c:pt>
                <c:pt idx="3">
                  <c:v>7.2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24.0</c:v>
                </c:pt>
                <c:pt idx="1">
                  <c:v>25.1</c:v>
                </c:pt>
                <c:pt idx="2">
                  <c:v>26.6</c:v>
                </c:pt>
                <c:pt idx="3">
                  <c:v>29.5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23.5</c:v>
                </c:pt>
                <c:pt idx="1">
                  <c:v>24.5</c:v>
                </c:pt>
                <c:pt idx="2">
                  <c:v>26.0</c:v>
                </c:pt>
                <c:pt idx="3">
                  <c:v>28.0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56.0</c:v>
                </c:pt>
                <c:pt idx="1">
                  <c:v>56.5</c:v>
                </c:pt>
                <c:pt idx="2">
                  <c:v>57.2</c:v>
                </c:pt>
                <c:pt idx="3">
                  <c:v>58.1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55.0</c:v>
                </c:pt>
                <c:pt idx="1">
                  <c:v>55.5</c:v>
                </c:pt>
                <c:pt idx="2">
                  <c:v>56.5</c:v>
                </c:pt>
                <c:pt idx="3">
                  <c:v>57.0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45.0</c:v>
                </c:pt>
                <c:pt idx="2">
                  <c:v>43.5</c:v>
                </c:pt>
                <c:pt idx="3">
                  <c:v>48.0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40.0</c:v>
                </c:pt>
                <c:pt idx="1">
                  <c:v>42.0</c:v>
                </c:pt>
                <c:pt idx="2">
                  <c:v>44.0</c:v>
                </c:pt>
                <c:pt idx="3">
                  <c:v>46.0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05-13T00:00:00Z" idx="1">
    <p:pos x="0" y="0"/>
    <p:text>Review this slide.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pack to test management-reporting style preservation.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Preserve close table text and note context for management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dashboard tiles and chart must stay inside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Bridge owner is FP&amp;A; preserve chart workbook and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Gross Margin owner is Ops; preserve chart workbook and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Cash Conversion owner is Treasury; preserve chart workbook and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Action-owner slide should retain rounded shapes and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Relationship Id="rId5" Type="http://schemas.openxmlformats.org/officeDocument/2006/relationships/oleObject" Target="../embeddings/oleObject1.bin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Management Reporting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Monthly close, segment KPIs, grouped dashboard visuals, and action owners.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Close Dashboard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8321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 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 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 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Payroll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 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Deferred Rev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 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Treasury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 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Segment Dashboard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74320" y="365760"/>
            <a:ext cx="5440680" cy="3337560"/>
            <a:chOff x="274320" y="365760"/>
            <a:chExt cx="5440680" cy="3337560"/>
          </a:xfrm>
        </p:grpSpPr>
        <p:sp>
          <p:nvSpPr>
            <p:cNvPr id="4" name="Rounded Rectangle 3"/>
            <p:cNvSpPr/>
            <p:nvPr/>
          </p:nvSpPr>
          <p:spPr>
            <a:xfrm>
              <a:off x="274320" y="365760"/>
              <a:ext cx="1600200" cy="73152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Enterprise</a:t>
              </a:r>
            </a:p>
            <a:p>
              <a:r>
                <a:t>$18.4m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194560" y="365760"/>
              <a:ext cx="1600200" cy="73152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SMB</a:t>
              </a:r>
            </a:p>
            <a:p>
              <a:r>
                <a:t>$7.2m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114800" y="365760"/>
              <a:ext cx="1600200" cy="73152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Services</a:t>
              </a:r>
            </a:p>
            <a:p>
              <a:r>
                <a:t>$3.9m</a:t>
              </a:r>
            </a:p>
          </p:txBody>
        </p:sp>
        <p:graphicFrame>
          <p:nvGraphicFramePr>
            <p:cNvPr id="7" name="Chart 6"/>
            <p:cNvGraphicFramePr>
              <a:graphicFrameLocks noGrp="1"/>
            </p:cNvGraphicFramePr>
            <p:nvPr/>
          </p:nvGraphicFramePr>
          <p:xfrm>
            <a:off x="320040" y="1325880"/>
            <a:ext cx="5394960" cy="237744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Revenue Bridge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Gross Margin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Cash Conversion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Management 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60120"/>
            <a:ext cx="51206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Resolve cash reconciling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51206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Reforecast Q3 hiring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880360"/>
            <a:ext cx="51206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Refresh pricing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Appendix: Reporting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75488">
                <a:tc>
                  <a:txBody>
                    <a:bodyPr/>
                    <a:lstStyle/>
                    <a:p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Close 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close_tracker.xlsx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Controller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Segment P&amp;L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segment_reporting.xlsx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FP&amp;A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Cash 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treasury_bridge.xlsx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Treasury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Board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board_actions.docx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CEO Staff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