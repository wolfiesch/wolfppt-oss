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  <Override PartName="/ppt/embeddings/oleObject1.bin" ContentType="application/vnd.openxmlformats-officedocument.oleObjec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>
  <p:cmAuthor id="0" name="WolfPPT" initials="WP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Recurring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Direct</c:v>
                </c:pt>
                <c:pt idx="1">
                  <c:v>Partner</c:v>
                </c:pt>
                <c:pt idx="2">
                  <c:v>Enterprise</c:v>
                </c:pt>
                <c:pt idx="3">
                  <c:v>Services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18.4</c:v>
                </c:pt>
                <c:pt idx="1">
                  <c:v>9.6</c:v>
                </c:pt>
                <c:pt idx="2">
                  <c:v>22.1</c:v>
                </c:pt>
                <c:pt idx="3">
                  <c:v>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Non-recurring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Direct</c:v>
                </c:pt>
                <c:pt idx="1">
                  <c:v>Partner</c:v>
                </c:pt>
                <c:pt idx="2">
                  <c:v>Enterprise</c:v>
                </c:pt>
                <c:pt idx="3">
                  <c:v>Services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</c:v>
                </c:pt>
                <c:pt idx="1">
                  <c:v>0.8</c:v>
                </c:pt>
                <c:pt idx="2">
                  <c:v>2.4</c:v>
                </c:pt>
                <c:pt idx="3">
                  <c:v>3.7</c:v>
                </c:pt>
              </c:numCache>
            </c:numRef>
          </c:val>
        </c:ser>
        <c:overlap val="100"/>
        <c:axId val="1000000"/>
        <c:axId val="1000001"/>
      </c:barChart>
      <c:catAx>
        <c:axId val="1000000"/>
        <c:scaling>
          <c:orientation val="minMax"/>
        </c:scaling>
        <c:delete val="0"/>
        <c:axPos val="b"/>
        <c:majorTickMark val="out"/>
        <c:minorTickMark val="none"/>
        <c:tickLblPos val="nextTo"/>
        <c:crossAx val="1000001"/>
        <c:crosses val="autoZero"/>
        <c:auto val="1"/>
        <c:lblAlgn val="ctr"/>
        <c:lblOffset val="100"/>
        <c:noMultiLvlLbl val="0"/>
      </c:catAx>
      <c:valAx>
        <c:axId val="1000001"/>
        <c:scaling/>
        <c:delete val="0"/>
        <c:axPos val="l"/>
        <c:majorGridlines/>
        <c:majorTickMark val="out"/>
        <c:minorTickMark val="none"/>
        <c:tickLblPos val="nextTo"/>
        <c:crossAx val="1000000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05-13T00:00:00Z" idx="1">
    <p:pos x="0" y="0"/>
    <p:text>Review this slide.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QoE diligence pack for buyer-side real-corpus preservation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EBITDA bridge should retain table topology, notes, and evidence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Stacked revenue-quality chart and workbook must survive round-trip.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NWC scenario table and connector line should be preserved.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Grouped diligence finding tiles should keep child text and transforms.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comments" Target="../comments/comment1.xml"/><Relationship Id="rId5" Type="http://schemas.openxmlformats.org/officeDocument/2006/relationships/oleObject" Target="../embeddings/oleObject1.bin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Quality of Earnings Diligence Pack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Adjusted EBITDA, revenue quality, net working capital, and diligence findings.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200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Adjusted EBITDA Bridge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914400"/>
          <a:ext cx="8321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18011">
                <a:tc>
                  <a:txBody>
                    <a:bodyPr/>
                    <a:lstStyle/>
                    <a:p>
                      <a:r>
                        <a:t>Adjustment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Evidence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Reported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TB tie-out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Owner comp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Payroll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One-time 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Invoices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Revenue cutoff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($0.1m)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($0.4m)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($0.3m)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 orders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r>
                        <a:t>Run-rate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Headcount plan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r>
                        <a:t>Adjusted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QoE model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Quality by Channel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914400"/>
          <a:ext cx="768096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Net Working Capital Peg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914400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426720">
                <a:tc>
                  <a:txBody>
                    <a:bodyPr/>
                    <a:lstStyle/>
                    <a:p>
                      <a: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Purchase price impact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Base peg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($0.3m)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AR 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($0.7m)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Inventory reserve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($0.6m)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Deferred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$0.1m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Buyer 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($0.5m)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or 3"/>
          <p:cNvCxnSpPr/>
          <p:nvPr/>
        </p:nvCxnSpPr>
        <p:spPr>
          <a:xfrm>
            <a:off x="914400" y="3703320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Diligence Findings and Open Items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28600" y="228600"/>
            <a:ext cx="4892040" cy="1673352"/>
            <a:chOff x="228600" y="228600"/>
            <a:chExt cx="4892040" cy="1673352"/>
          </a:xfrm>
        </p:grpSpPr>
        <p:sp>
          <p:nvSpPr>
            <p:cNvPr id="4" name="Rounded Rectangle 3"/>
            <p:cNvSpPr/>
            <p:nvPr/>
          </p:nvSpPr>
          <p:spPr>
            <a:xfrm>
              <a:off x="22860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Revenue cutoff</a:t>
              </a:r>
            </a:p>
            <a:p>
              <a:r>
                <a:t>Accounting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834640" y="22860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Customer churn</a:t>
              </a:r>
            </a:p>
            <a:p>
              <a:r>
                <a:t>Commercial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2860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Payroll accrual</a:t>
              </a:r>
            </a:p>
            <a:p>
              <a:r>
                <a:t>People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834640" y="1188720"/>
              <a:ext cx="2286000" cy="713232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Inventory reserve</a:t>
              </a:r>
            </a:p>
            <a:p>
              <a:r>
                <a:t>Ops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Appendix: QoE Evidence Index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749807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457200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Trial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trial_balance.xlsx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Controller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Revenue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sales_orders.csv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Accounting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Payroll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payroll_register.xlsx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People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Inventory roll-forward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inventory_ledger.xlsx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QoE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qoe_adjustments.xlsx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 team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