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comments/comment1.xml" ContentType="application/vnd.openxmlformats-officedocument.presentationml.comments+xml"/>
  <Override PartName="/ppt/commentAuthors.xml" ContentType="application/vnd.openxmlformats-officedocument.presentationml.commentAuthors+xml"/>
  <Override PartName="/ppt/embeddings/oleObject1.bin" ContentType="application/vnd.openxmlformats-officedocument.oleObjec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p="http://schemas.openxmlformats.org/presentationml/2006/main">
  <p:cmAuthor id="0" name="WolfPPT" initials="WP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commentAuthors" Target="comment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5 vendors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41</c:v>
                </c:pt>
                <c:pt idx="2">
                  <c:v>43</c:v>
                </c:pt>
                <c:pt idx="3">
                  <c:v>46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Top 10 vendors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57</c:v>
                </c:pt>
                <c:pt idx="1">
                  <c:v>60</c:v>
                </c:pt>
                <c:pt idx="2">
                  <c:v>63</c:v>
                </c:pt>
                <c:pt idx="3">
                  <c:v>66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omments/comment1.xml><?xml version="1.0" encoding="utf-8"?>
<p:cmLst xmlns:p="http://schemas.openxmlformats.org/presentationml/2006/main">
  <p:cm authorId="0" dt="2026-05-13T00:00:00Z" idx="1">
    <p:pos x="0" y="0"/>
    <p:text>Review this slide.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procurement vendor risk pack for real-corpus preservation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Supplier exposure table should preserve vendor names, categories, and risk owners.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Spend concentration chart workbook and notes must survive round-trip.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Renewal table and connector should be preserved as contract-risk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Grouped procurement action tiles should keep child text and transforms.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comments" Target="../comments/comment1.xml"/><Relationship Id="rId5" Type="http://schemas.openxmlformats.org/officeDocument/2006/relationships/oleObject" Target="../embeddings/oleObject1.bin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Procurement Vendor Risk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Supplier exposure, renewal timing, contract concentration, and owner actions.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32004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Supplier Exposure Register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914400"/>
          <a:ext cx="83210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1664208"/>
                <a:gridCol w="1664208"/>
                <a:gridCol w="1664208"/>
                <a:gridCol w="1664208"/>
              </a:tblGrid>
              <a:tr h="457200">
                <a:tc>
                  <a:txBody>
                    <a:bodyPr/>
                    <a:lstStyle/>
                    <a:p>
                      <a:r>
                        <a:t>Supplier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Spend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Northstar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Infrastructure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$4.8m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Apex Logistics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Fulfillment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$2.6m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LedgerWorks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Finance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Finance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Beacon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CX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Total tracked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Critical vendors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$11.9m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Procurement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Spend Concentration Trend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914400"/>
          <a:ext cx="768096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Renewal and Contract Risk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914400"/>
          <a:ext cx="7498079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874519"/>
                <a:gridCol w="1874519"/>
                <a:gridCol w="1874522"/>
              </a:tblGrid>
              <a:tr h="448056">
                <a:tc>
                  <a:txBody>
                    <a:bodyPr/>
                    <a:lstStyle/>
                    <a:p>
                      <a:r>
                        <a:t>Contract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Renewal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Mitigation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r>
                        <a:t>Cloud commit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Jun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Overage exposure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Usage true-up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r>
                        <a:t>Warehouse 3PL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Jul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Capacity cap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Secondary lane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r>
                        <a:t>Support BPO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Aug 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SLA credits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Executive review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r>
                        <a:t>Finance suite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Sep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 residency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Legal addendum</a:t>
                      </a: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4" name="Connector 3"/>
          <p:cNvCxnSpPr/>
          <p:nvPr/>
        </p:nvCxnSpPr>
        <p:spPr>
          <a:xfrm>
            <a:off x="914400" y="3429000"/>
            <a:ext cx="6766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Mitigation Owners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28600" y="228600"/>
            <a:ext cx="4892040" cy="1673352"/>
            <a:chOff x="228600" y="228600"/>
            <a:chExt cx="4892040" cy="1673352"/>
          </a:xfrm>
        </p:grpSpPr>
        <p:sp>
          <p:nvSpPr>
            <p:cNvPr id="4" name="Rounded Rectangle 3"/>
            <p:cNvSpPr/>
            <p:nvPr/>
          </p:nvSpPr>
          <p:spPr>
            <a:xfrm>
              <a:off x="228600" y="228600"/>
              <a:ext cx="2286000" cy="71323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Cloud usage true-up</a:t>
              </a:r>
            </a:p>
            <a:p>
              <a:r>
                <a:t>IT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834640" y="228600"/>
              <a:ext cx="2286000" cy="71323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Warehouse backup lane</a:t>
              </a:r>
            </a:p>
            <a:p>
              <a:r>
                <a:t>Operations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28600" y="1188720"/>
              <a:ext cx="2286000" cy="71323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BPO SLA review</a:t>
              </a:r>
            </a:p>
            <a:p>
              <a:r>
                <a:t>Customer Success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834640" y="1188720"/>
              <a:ext cx="2286000" cy="71323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Data residency addendum</a:t>
              </a:r>
            </a:p>
            <a:p>
              <a:r>
                <a:t>Legal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Appendix: Procurement Evidence Index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914400"/>
          <a:ext cx="749807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359"/>
                <a:gridCol w="2499359"/>
                <a:gridCol w="2499361"/>
              </a:tblGrid>
              <a:tr h="475488">
                <a:tc>
                  <a:txBody>
                    <a:bodyPr/>
                    <a:lstStyle/>
                    <a:p>
                      <a:r>
                        <a:t>Artifact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Spend cube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vendor_spend_cube.xlsx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Procurement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Contract tracker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renewal_tracker.csv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Legal Ops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Risk 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supplier_risk.csv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Vendor Management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Usage export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cloud_usage_export.csv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