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ns0:chartSpace xmlns:ns0="http://schemas.openxmlformats.org/drawingml/2006/chart" xmlns:ns1="http://schemas.openxmlformats.org/drawingml/2006/main" xmlns:ns2="http://schemas.openxmlformats.org/officeDocument/2006/relationships">
  <ns0:date1904 val="0"/>
  <ns0:chart>
    <ns0:autoTitleDeleted val="0"/>
    <ns0:plotArea>
      <ns0:barChart>
        <ns0:barDir val="col"/>
        <ns0:grouping val="clustered"/>
        <ns0:ser>
          <ns0:idx val="0"/>
          <ns0:order val="0"/>
          <ns0:tx>
            <ns0:strRef>
              <ns0:f>Sheet1!$B$1</ns0:f>
              <ns0:strCache>
                <ns0:ptCount val="1"/>
                <ns0:pt idx="0">
                  <ns0:v>Revenue</ns0:v>
                </ns0:pt>
              </ns0:strCache>
            </ns0:strRef>
          </ns0:tx>
          <ns0:cat>
            <ns0:strRef>
              <ns0:f>Sheet1!$A$2:$A$4</ns0:f>
              <ns0:strCache>
                <ns0:ptCount val="3"/>
                <ns0:pt idx="0">
                  <ns0:v>Q1</ns0:v>
                </ns0:pt>
                <ns0:pt idx="1">
                  <ns0:v>Q2</ns0:v>
                </ns0:pt>
                <ns0:pt idx="2">
                  <ns0:v>Q3</ns0:v>
                </ns0:pt>
              </ns0:strCache>
            </ns0:strRef>
          </ns0:cat>
          <ns0:val>
            <ns0:numRef>
              <ns0:f>Sheet1!$B$2:$B$4</ns0:f>
              <ns0:numCache>
                <ns0:formatCode>General</ns0:formatCode>
                <ns0:ptCount val="3"/>
                <ns0:pt idx="0">
                  <ns0:v>10</ns0:v>
                </ns0:pt>
                <ns0:pt idx="1">
                  <ns0:v>14</ns0:v>
                </ns0:pt>
                <ns0:pt idx="2">
                  <ns0:v>17</ns0:v>
                </ns0:pt>
              </ns0:numCache>
            </ns0:numRef>
          </ns0:val>
        </ns0:ser>
        <ns0:ser>
          <ns0:idx val="1"/>
          <ns0:order val="1"/>
          <ns0:tx>
            <ns0:strRef>
              <ns0:f>Sheet1!$C$1</ns0:f>
              <ns0:strCache>
                <ns0:ptCount val="1"/>
                <ns0:pt idx="0">
                  <ns0:v>Margin</ns0:v>
                </ns0:pt>
              </ns0:strCache>
            </ns0:strRef>
          </ns0:tx>
          <ns0:cat>
            <ns0:strRef>
              <ns0:f>Sheet1!$A$2:$A$4</ns0:f>
              <ns0:strCache>
                <ns0:ptCount val="3"/>
                <ns0:pt idx="0">
                  <ns0:v>Q1</ns0:v>
                </ns0:pt>
                <ns0:pt idx="1">
                  <ns0:v>Q2</ns0:v>
                </ns0:pt>
                <ns0:pt idx="2">
                  <ns0:v>Q3</ns0:v>
                </ns0:pt>
              </ns0:strCache>
            </ns0:strRef>
          </ns0:cat>
          <ns0:val>
            <ns0:numRef>
              <ns0:f>Sheet1!$C$2:$C$4</ns0:f>
              <ns0:numCache>
                <ns0:formatCode>General</ns0:formatCode>
                <ns0:ptCount val="3"/>
                <ns0:pt idx="0">
                  <ns0:v>2</ns0:v>
                </ns0:pt>
                <ns0:pt idx="1">
                  <ns0:v>3</ns0:v>
                </ns0:pt>
                <ns0:pt idx="2">
                  <ns0:v>5</ns0:v>
                </ns0:pt>
              </ns0:numCache>
            </ns0:numRef>
          </ns0:val>
        </ns0:ser>
        <ns0:axId val="1000000"/>
        <ns0:axId val="1000001"/>
      </ns0:barChart>
      <ns0:catAx>
        <ns0:axId val="1000000"/>
        <ns0:scaling>
          <ns0:orientation val="minMax"/>
        </ns0:scaling>
        <ns0:delete val="0"/>
        <ns0:axPos val="b"/>
        <ns0:majorTickMark val="out"/>
        <ns0:minorTickMark val="none"/>
        <ns0:tickLblPos val="nextTo"/>
        <ns0:crossAx val="1000001"/>
        <ns0:crosses val="autoZero"/>
        <ns0:auto val="1"/>
        <ns0:lblAlgn val="ctr"/>
        <ns0:lblOffset val="100"/>
        <ns0:noMultiLvlLbl val="0"/>
      </ns0:catAx>
      <ns0:valAx>
        <ns0:axId val="1000001"/>
        <ns0:scaling/>
        <ns0:delete val="0"/>
        <ns0:axPos val="l"/>
        <ns0:majorGridlines/>
        <ns0:majorTickMark val="out"/>
        <ns0:minorTickMark val="none"/>
        <ns0:tickLblPos val="nextTo"/>
        <ns0:crossAx val="1000000"/>
        <ns0:crosses val="autoZero"/>
      </ns0:valAx>
    </ns0:plotArea>
    <ns0:dispBlanksAs val="gap"/>
  </ns0:chart>
  <ns0:txPr>
    <ns1:bodyPr/>
    <ns1:lstStyle/>
    <ns1:p>
      <ns1:pPr>
        <ns1:defRPr sz="1800"/>
      </ns1:pPr>
      <ns1:endParaRPr lang="en-US"/>
    </ns1:p>
  </ns0:txPr>
  <ns0:externalData ns2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